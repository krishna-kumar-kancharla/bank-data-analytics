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44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5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61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67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7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864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271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134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36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7131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5796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367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2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670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172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679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47DDB-C814-41C2-AB7C-C7924E4542DB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674E0D-AA52-42F7-99F8-37D4D3C68A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630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441F21E-130E-4649-8A6E-8AF2A3F9D41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62325" y="1110038"/>
            <a:ext cx="1066800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lgerian" panose="04020705040A02060702" pitchFamily="82" charset="0"/>
              </a:rPr>
              <a:t>Title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Bank Analytics Dashboard Overview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loan Analytics</a:t>
            </a:r>
            <a:b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gerian" panose="04020705040A02060702" pitchFamily="82" charset="0"/>
              </a:rPr>
              <a:t>Credit &amp; Debit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971CA1-8570-438D-8C78-3497429B7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363" y="3343794"/>
            <a:ext cx="8699924" cy="960121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  <a:latin typeface="Algerian" panose="04020705040A02060702" pitchFamily="82" charset="0"/>
              </a:rPr>
              <a:t>Subtitle</a:t>
            </a:r>
          </a:p>
          <a:p>
            <a:pPr algn="ctr"/>
            <a:r>
              <a:rPr lang="en-GB" sz="3200" dirty="0">
                <a:latin typeface="Agency FB" panose="020B0503020202020204" pitchFamily="34" charset="0"/>
              </a:rPr>
              <a:t>  </a:t>
            </a:r>
            <a:r>
              <a:rPr lang="en-GB" sz="3200" b="1" dirty="0">
                <a:solidFill>
                  <a:schemeClr val="tx1"/>
                </a:solidFill>
                <a:latin typeface="Agency FB" panose="020B0503020202020204" pitchFamily="34" charset="0"/>
              </a:rPr>
              <a:t>Understanding Key Financial Performance Indicators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69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2A50E-1562-4D80-8C81-87814AE4B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543049"/>
            <a:ext cx="11693218" cy="46520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8DE446-3231-482C-A1D8-D9B1B1D7EF0D}"/>
              </a:ext>
            </a:extLst>
          </p:cNvPr>
          <p:cNvSpPr txBox="1"/>
          <p:nvPr/>
        </p:nvSpPr>
        <p:spPr>
          <a:xfrm>
            <a:off x="2715491" y="928255"/>
            <a:ext cx="7711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Algerian" panose="04020705040A02060702" pitchFamily="82" charset="0"/>
              </a:rPr>
              <a:t>Excel Dashboard (loan analytics)</a:t>
            </a:r>
            <a:endParaRPr lang="en-IN" sz="1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21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F9C5283-2675-43A2-A1D5-CD3C4B725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394" y="2237438"/>
            <a:ext cx="1144143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Snapshot of Key Bank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Visualizations: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Payments by product type (shows popular products like Home Loan, Emergency Loan)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Payments by state (highlights high payment regions like Uttar Pradesh, Rajasthan)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group vs. average payment (identifies key customer segments)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payment trend (shows seasonal variations)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 of customers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dashboard provides a high-level view of customer demographics, payment trends, and loan performance, indicating a stable but growing bank.</a:t>
            </a:r>
          </a:p>
        </p:txBody>
      </p:sp>
    </p:spTree>
    <p:extLst>
      <p:ext uri="{BB962C8B-B14F-4D97-AF65-F5344CB8AC3E}">
        <p14:creationId xmlns:p14="http://schemas.microsoft.com/office/powerpoint/2010/main" val="2701780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ACCE8B-411E-4729-B621-4EF2CA5DE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2" y="1459523"/>
            <a:ext cx="12019976" cy="5300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F5129D-4D4A-4532-89BE-CB9674BC5C1C}"/>
              </a:ext>
            </a:extLst>
          </p:cNvPr>
          <p:cNvSpPr txBox="1"/>
          <p:nvPr/>
        </p:nvSpPr>
        <p:spPr>
          <a:xfrm>
            <a:off x="2763981" y="962891"/>
            <a:ext cx="815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Algerian" panose="04020705040A02060702" pitchFamily="82" charset="0"/>
              </a:rPr>
              <a:t>Excel Dashboard (Credit &amp; Debit Analysis Dashboard)</a:t>
            </a:r>
          </a:p>
        </p:txBody>
      </p:sp>
    </p:spTree>
    <p:extLst>
      <p:ext uri="{BB962C8B-B14F-4D97-AF65-F5344CB8AC3E}">
        <p14:creationId xmlns:p14="http://schemas.microsoft.com/office/powerpoint/2010/main" val="961241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BEE1673-0376-4E0E-8DC2-7DDB06C1E03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0658" y="1784355"/>
            <a:ext cx="11510683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In-Depth Transaction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Visualizations: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Week-wise Transaction Amount (shows transaction volume distribution across days of the week, with Friday having the highest)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Month-wise Transaction Amount (consistent volume throughout the year)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Amount By Day (daily trend across the month)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Amount By Branch (confirms City Center, East, Main, North, Suburban as key branches)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Method filter (Bank Transfer, Credit Card, Debit Card)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Bank Name filter (Axis Bank, HDFC Bank, IOO Bank, Kotak Mahindra Bank, Punjab National Bank, State Bank of India)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Transactions are spread relatively evenly throughout the month, with a slight peak on Fridays. The consistency in monthly transaction amounts suggests stable customer engagement. The dashboard allows for granular filtering by transaction method and bank name.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72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E05C46-BB92-4266-BC84-1FEC097DB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82" y="1440873"/>
            <a:ext cx="12011891" cy="53617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CBC1A3-B946-4492-833F-72283B1B6270}"/>
              </a:ext>
            </a:extLst>
          </p:cNvPr>
          <p:cNvSpPr txBox="1"/>
          <p:nvPr/>
        </p:nvSpPr>
        <p:spPr>
          <a:xfrm>
            <a:off x="3484418" y="824345"/>
            <a:ext cx="7585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Power BI (Loan Analytics)</a:t>
            </a:r>
          </a:p>
        </p:txBody>
      </p:sp>
    </p:spTree>
    <p:extLst>
      <p:ext uri="{BB962C8B-B14F-4D97-AF65-F5344CB8AC3E}">
        <p14:creationId xmlns:p14="http://schemas.microsoft.com/office/powerpoint/2010/main" val="2104511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9BBD009-4CDA-41E2-96BF-CBDFE8902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30" y="1741931"/>
            <a:ext cx="11192539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In-depth Loan Metrics and Product Contribution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Visualizations: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Loan Count by Loan Status (provides a breakdown of active, paid off, and defaulted loans)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 Rate (19.55% verified, 17K unverified loans)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Group Wise Loan Amount (confirms previous insights)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Religion Wise Loan Amount (reveals distribution across religious groups)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Grade-Wise Loan Distribution (shows loan distribution by internal grades A-G)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Loan Amount by Product (highlights Home Loan, Services, Agriculture, Business as major contributors)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Disbursement Trend by Month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Caste Wise Loan Amount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Home loans are the strongest product. There's a significant number of unverified loans, which could be an area for review. The collection rate is healthy.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99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B46D2-19B8-4D2E-938D-D4A135673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6" y="1496291"/>
            <a:ext cx="12011891" cy="53132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15E7EF-E6DB-46DD-AE79-3458AF22A347}"/>
              </a:ext>
            </a:extLst>
          </p:cNvPr>
          <p:cNvSpPr txBox="1"/>
          <p:nvPr/>
        </p:nvSpPr>
        <p:spPr>
          <a:xfrm>
            <a:off x="3297382" y="858981"/>
            <a:ext cx="8291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Power BI (Credit &amp; debit Analysis)</a:t>
            </a:r>
          </a:p>
        </p:txBody>
      </p:sp>
    </p:spTree>
    <p:extLst>
      <p:ext uri="{BB962C8B-B14F-4D97-AF65-F5344CB8AC3E}">
        <p14:creationId xmlns:p14="http://schemas.microsoft.com/office/powerpoint/2010/main" val="61479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B92A969-F334-40E9-8132-3B2469040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2784081"/>
            <a:ext cx="1163089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Credit and Debit Dashboard - High-Level 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Visualizations (Combined from both images):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Transaction Amount by Branch (City Center, Suburban, Downtown, East as main contributors)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Transactions by Day/Week/Month (showing daily, weekly, and monthly transaction patterns)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bank maintains a balanced credit-debit flow with a C/D ratio close to 1. Transaction volumes are consistent across months, and City Center appears to be the most active branch.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818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9D5B02-73B2-4F37-B561-BAF24A5480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6" y="1482436"/>
            <a:ext cx="11949546" cy="52647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3814DC-4FCB-488B-87FD-4C4C78C8E301}"/>
              </a:ext>
            </a:extLst>
          </p:cNvPr>
          <p:cNvSpPr txBox="1"/>
          <p:nvPr/>
        </p:nvSpPr>
        <p:spPr>
          <a:xfrm>
            <a:off x="3484417" y="893618"/>
            <a:ext cx="8465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Tableau (Loan Analytics)</a:t>
            </a:r>
          </a:p>
        </p:txBody>
      </p:sp>
    </p:spTree>
    <p:extLst>
      <p:ext uri="{BB962C8B-B14F-4D97-AF65-F5344CB8AC3E}">
        <p14:creationId xmlns:p14="http://schemas.microsoft.com/office/powerpoint/2010/main" val="2207685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19B93C-7D47-46D9-AE49-81D4A36616D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5302" y="1986462"/>
            <a:ext cx="11399553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Loan Portfolio Performance and Risk Assessment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Visualizations: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Loan Disbursement &amp; Payment Trend (monthly view)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Group Wise Loan Amount (identifies top borrowing age groups: 26-35, 36-45)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 vs Default Status (shows the impact of verification on default)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Distribution by Age &amp; Product (reveals popular products for different age groups)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 Loan Value Distribution (identifies key states for loan disbursement)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State-Wise Loan Performance (shows top states like Uttar Pradesh, Punjab)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bank has a healthy disbursement trend, with specific age groups and states contributing significantly to the loan portfolio. Verification processes play a crucial role in mitigating defaults.</a:t>
            </a:r>
          </a:p>
        </p:txBody>
      </p:sp>
    </p:spTree>
    <p:extLst>
      <p:ext uri="{BB962C8B-B14F-4D97-AF65-F5344CB8AC3E}">
        <p14:creationId xmlns:p14="http://schemas.microsoft.com/office/powerpoint/2010/main" val="4012082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614143-A344-446D-9BBF-28961E06F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5" y="1461655"/>
            <a:ext cx="12054257" cy="5297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B157A9-ED14-4A4F-970C-0D0B65B63BB9}"/>
              </a:ext>
            </a:extLst>
          </p:cNvPr>
          <p:cNvSpPr txBox="1"/>
          <p:nvPr/>
        </p:nvSpPr>
        <p:spPr>
          <a:xfrm>
            <a:off x="3567545" y="838200"/>
            <a:ext cx="8485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Algerian" panose="04020705040A02060702" pitchFamily="82" charset="0"/>
              </a:rPr>
              <a:t>Tableau (Credit &amp; debit Analysis)</a:t>
            </a:r>
          </a:p>
        </p:txBody>
      </p:sp>
    </p:spTree>
    <p:extLst>
      <p:ext uri="{BB962C8B-B14F-4D97-AF65-F5344CB8AC3E}">
        <p14:creationId xmlns:p14="http://schemas.microsoft.com/office/powerpoint/2010/main" val="1233259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9D328C-C676-4B52-B432-600559610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364" y="2161054"/>
            <a:ext cx="1131916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Analyzing Transaction Volume and Branch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Transaction Amount by Branch: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Confirms the key performing branches and their share of the total transaction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 Activity Ratio (A/C Activity %):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metric reflecting the percentage of active accounts or a similar engagement measure.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Slicer: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the capability to filter the data by year.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Consistent transaction volumes across branches and months are a sign of reliable customer engagement. The high A/C Activity Ratio suggests a significant portion of customers are actively using their accounts.</a:t>
            </a:r>
          </a:p>
        </p:txBody>
      </p:sp>
    </p:spTree>
    <p:extLst>
      <p:ext uri="{BB962C8B-B14F-4D97-AF65-F5344CB8AC3E}">
        <p14:creationId xmlns:p14="http://schemas.microsoft.com/office/powerpoint/2010/main" val="132608008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75</TotalTime>
  <Words>747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Agency FB</vt:lpstr>
      <vt:lpstr>Algerian</vt:lpstr>
      <vt:lpstr>Arial</vt:lpstr>
      <vt:lpstr>Century Gothic</vt:lpstr>
      <vt:lpstr>Vapor Trail</vt:lpstr>
      <vt:lpstr>Title  Bank Analytics Dashboard Overview loan Analytics Credit &amp; Debit Analytics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 Bank Analytics Dashboard Overview</dc:title>
  <dc:creator>Krishna kumar Kancharla</dc:creator>
  <cp:lastModifiedBy>ASHOK SEN</cp:lastModifiedBy>
  <cp:revision>9</cp:revision>
  <dcterms:created xsi:type="dcterms:W3CDTF">2025-10-24T06:10:46Z</dcterms:created>
  <dcterms:modified xsi:type="dcterms:W3CDTF">2025-11-06T04:51:07Z</dcterms:modified>
</cp:coreProperties>
</file>